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777240" y="1143000"/>
            <a:ext cx="1828800" cy="1828800"/>
          </a:xfrm>
          <a:prstGeom prst="hexagon">
            <a:avLst/>
          </a:prstGeom>
          <a:solidFill>
            <a:srgbClr val="275CA0"/>
          </a:solidFill>
          <a:ln>
            <a:solidFill>
              <a:srgbClr val="3EA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1572768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AFBFD"/>
                </a:solidFill>
              </a:rPr>
              <a:t>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AFBFD"/>
                </a:solidFill>
              </a:rPr>
              <a:t>PHISHING 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DD7E3"/>
                </a:solidFill>
              </a:rPr>
              <a:t>Recognize the bait. Verify the source. Protect your account.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965960"/>
            <a:ext cx="1417320" cy="384048"/>
          </a:xfrm>
          <a:prstGeom prst="roundRect">
            <a:avLst/>
          </a:prstGeom>
          <a:solidFill>
            <a:srgbClr val="3EA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2002536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AFBFD"/>
                </a:solidFill>
              </a:rPr>
              <a:t>CYBERSECURITY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560320"/>
            <a:ext cx="8046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FAFBFD"/>
                </a:solidFill>
              </a:defRPr>
            </a:pPr>
            <a:r>
              <a:t>• How phishing works</a:t>
            </a:r>
          </a:p>
          <a:p>
            <a:pPr>
              <a:spcAft>
                <a:spcPts val="1000"/>
              </a:spcAft>
              <a:defRPr sz="1900">
                <a:solidFill>
                  <a:srgbClr val="FAFBFD"/>
                </a:solidFill>
              </a:defRPr>
            </a:pPr>
            <a:r>
              <a:t>• How to spot fake emails and websites</a:t>
            </a:r>
          </a:p>
          <a:p>
            <a:pPr>
              <a:spcAft>
                <a:spcPts val="1000"/>
              </a:spcAft>
              <a:defRPr sz="1900">
                <a:solidFill>
                  <a:srgbClr val="FAFBFD"/>
                </a:solidFill>
              </a:defRPr>
            </a:pPr>
            <a:r>
              <a:t>• Social engineering tactics</a:t>
            </a:r>
          </a:p>
          <a:p>
            <a:pPr>
              <a:spcAft>
                <a:spcPts val="1000"/>
              </a:spcAft>
              <a:defRPr sz="1900">
                <a:solidFill>
                  <a:srgbClr val="FAFBFD"/>
                </a:solidFill>
              </a:defRPr>
            </a:pPr>
            <a:r>
              <a:t>• Best practices + real-world examples</a:t>
            </a:r>
          </a:p>
          <a:p>
            <a:pPr>
              <a:spcAft>
                <a:spcPts val="1000"/>
              </a:spcAft>
              <a:defRPr sz="1900">
                <a:solidFill>
                  <a:srgbClr val="FAFBFD"/>
                </a:solidFill>
              </a:defRPr>
            </a:pPr>
            <a:r>
              <a:t>• Interactive knowledge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B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1F32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B"/>
                </a:solidFill>
              </a:rPr>
              <a:t>By the end, learners should be able 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74720" cy="182880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828800"/>
          </a:xfrm>
          <a:prstGeom prst="rect">
            <a:avLst/>
          </a:prstGeom>
          <a:solidFill>
            <a:srgbClr val="27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73351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01  Identify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6712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Recognize common phishing indicators in messages, links and login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74720" cy="182880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73152" cy="1828800"/>
          </a:xfrm>
          <a:prstGeom prst="rect">
            <a:avLst/>
          </a:prstGeom>
          <a:solidFill>
            <a:srgbClr val="DA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73351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02  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16712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Use sender, URL, context and request details to judge whether a message is suspicious.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08760"/>
            <a:ext cx="3474720" cy="182880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508760"/>
            <a:ext cx="73152" cy="1828800"/>
          </a:xfrm>
          <a:prstGeom prst="rect">
            <a:avLst/>
          </a:prstGeom>
          <a:solidFill>
            <a:srgbClr val="30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673351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03  Respond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16712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Stop, verify, report and recover safely if you clicked or shared information.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4600" y="3749039"/>
            <a:ext cx="3474720" cy="164592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749039"/>
            <a:ext cx="73152" cy="164592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15768" y="3913631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04  Resist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768" y="4407407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Recognize urgency, authority, fear, curiosity and reward-based manipulation.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3474720" cy="164592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49039"/>
            <a:ext cx="73152" cy="1645920"/>
          </a:xfrm>
          <a:prstGeom prst="rect">
            <a:avLst/>
          </a:prstGeom>
          <a:solidFill>
            <a:srgbClr val="3EA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913631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05  Practice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407407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Apply the skills through realistic examples and short quizzes.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1F32"/>
                </a:solidFill>
              </a:rPr>
              <a:t>What Is Phishing?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B"/>
                </a:solidFill>
              </a:rPr>
              <a:t>A social-engineering attack that tricks people into taking an unsafe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6583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• Attackers impersonate trusted people, companies or services.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• The goal may be to steal passwords, payment information, codes or personal data.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• They may also deliver malware or gain access to an organization.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• Phishing can arrive by email, SMS, messaging apps, phone calls or social media.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508760"/>
            <a:ext cx="3749039" cy="123444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35240" y="1508760"/>
            <a:ext cx="73152" cy="123444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36408" y="1673351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Typical bait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6408" y="2167128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“Your account will be locked today.”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926080"/>
            <a:ext cx="3749039" cy="123444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2926080"/>
            <a:ext cx="73152" cy="1234440"/>
          </a:xfrm>
          <a:prstGeom prst="rect">
            <a:avLst/>
          </a:prstGeom>
          <a:solidFill>
            <a:srgbClr val="DA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3090672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Unsafe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3584448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Click a link, open a file, call a number or share a secret.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343400"/>
            <a:ext cx="3749039" cy="123444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4343400"/>
            <a:ext cx="73152" cy="1234440"/>
          </a:xfrm>
          <a:prstGeom prst="rect">
            <a:avLst/>
          </a:prstGeom>
          <a:solidFill>
            <a:srgbClr val="27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36408" y="4507992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Attacker wins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5001768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Credentials, money, data or access.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B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1F32"/>
                </a:solidFill>
              </a:rPr>
              <a:t>Recognizing a Phishing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B"/>
                </a:solidFill>
              </a:rPr>
              <a:t>Look for multiple warning signs—not just 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658368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41F32"/>
                </a:solidFill>
              </a:rPr>
              <a:t>From: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664208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E3737"/>
                </a:solidFill>
              </a:rPr>
              <a:t>support@paypaI-security.example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41F32"/>
                </a:solidFill>
              </a:rPr>
              <a:t>Subject: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395728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E3737"/>
                </a:solidFill>
              </a:rPr>
              <a:t>URGENT: Verify your account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41F32"/>
                </a:solidFill>
              </a:rPr>
              <a:t>Message: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127248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A34"/>
                </a:solidFill>
              </a:rPr>
              <a:t>We detected unusual activity. Your account will be suspended within 24 hours.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58768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41F32"/>
                </a:solidFill>
              </a:rPr>
              <a:t>Button: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858768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E3737"/>
                </a:solidFill>
              </a:rPr>
              <a:t>VERIFY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90288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41F32"/>
                </a:solidFill>
              </a:rPr>
              <a:t>Attachment: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4590288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A842D"/>
                </a:solidFill>
              </a:rPr>
              <a:t>invoice_urgent.html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508760"/>
            <a:ext cx="3886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</a:defRPr>
            </a:pPr>
            <a:r>
              <a:t>• Check the complete sender address.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</a:defRPr>
            </a:pPr>
            <a:r>
              <a:t>• Be suspicious of urgency, threats and unusual requests.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</a:defRPr>
            </a:pPr>
            <a:r>
              <a:t>• Hover over links before clicking; inspect the destination.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</a:defRPr>
            </a:pPr>
            <a:r>
              <a:t>• Unexpected attachments deserve extra caution.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</a:defRPr>
            </a:pPr>
            <a:r>
              <a:t>• Poor grammar can be a clue—but polished phishing also exists.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1F32"/>
                </a:solidFill>
              </a:rPr>
              <a:t>How to Spot a Fake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B"/>
                </a:solidFill>
              </a:rPr>
              <a:t>A familiar logo does not prove a website is legitimate.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141732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417320"/>
          </a:xfrm>
          <a:prstGeom prst="rect">
            <a:avLst/>
          </a:prstGeom>
          <a:solidFill>
            <a:srgbClr val="27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Check the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75688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Read the domain carefully. Watch for misspellings, extra words and deceptive subdomains.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141732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1417320"/>
          </a:xfrm>
          <a:prstGeom prst="rect">
            <a:avLst/>
          </a:prstGeom>
          <a:solidFill>
            <a:srgbClr val="DA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819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HTTPS ≠ automatically safe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75688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HTTPS encrypts the connection; it does not prove the site is trustworthy.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29000" cy="141732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73152" cy="1417320"/>
          </a:xfrm>
          <a:prstGeom prst="rect">
            <a:avLst/>
          </a:prstGeom>
          <a:solidFill>
            <a:srgbClr val="30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5819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Avoid login links from messages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075688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Open the official app/site yourself when possible.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154680"/>
            <a:ext cx="3429000" cy="141732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154680"/>
            <a:ext cx="73152" cy="141732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3192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Look for pressure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813048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“Act now” and “account locked” messages are common manipulation tactics.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154680"/>
            <a:ext cx="3429000" cy="141732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154680"/>
            <a:ext cx="73152" cy="141732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33192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Check what is requested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813048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Unexpected passwords, OTPs, card details or recovery codes are major red flags.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154680"/>
            <a:ext cx="3429000" cy="141732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3154680"/>
            <a:ext cx="73152" cy="1417320"/>
          </a:xfrm>
          <a:prstGeom prst="rect">
            <a:avLst/>
          </a:prstGeom>
          <a:solidFill>
            <a:srgbClr val="3EA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8" y="33192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Use trusted bookmarks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3813048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For important services, type the address or use a saved bookmark instead of an email link.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16636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1F32"/>
                </a:solidFill>
              </a:rPr>
              <a:t>Rule of thumb: If you are unsure, stop and verify through a separate trusted channel.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1F32"/>
                </a:solidFill>
              </a:rPr>
              <a:t>Social Engineering: Hacking the Human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B"/>
                </a:solidFill>
              </a:rPr>
              <a:t>Attackers often exploit emotions and trust rather than technical weaknesses.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3063240" cy="160020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73152" cy="160020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27632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Urgency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21408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“You have 10 minutes to respond.”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463040"/>
            <a:ext cx="3063240" cy="160020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69080" y="1463040"/>
            <a:ext cx="73152" cy="1600200"/>
          </a:xfrm>
          <a:prstGeom prst="rect">
            <a:avLst/>
          </a:prstGeom>
          <a:solidFill>
            <a:srgbClr val="27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1627632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Authority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2121408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“This is the IT/security team.”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463040"/>
            <a:ext cx="3063240" cy="160020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463040"/>
            <a:ext cx="73152" cy="1600200"/>
          </a:xfrm>
          <a:prstGeom prst="rect">
            <a:avLst/>
          </a:prstGeom>
          <a:solidFill>
            <a:srgbClr val="DA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53528" y="1627632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Fear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8" y="2121408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“Your account will be terminated.”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57600"/>
            <a:ext cx="3063240" cy="160020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657600"/>
            <a:ext cx="73152" cy="1600200"/>
          </a:xfrm>
          <a:prstGeom prst="rect">
            <a:avLst/>
          </a:prstGeom>
          <a:solidFill>
            <a:srgbClr val="30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822191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Reward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315968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“You won a prize—claim it now.”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3657600"/>
            <a:ext cx="3063240" cy="160020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9080" y="3657600"/>
            <a:ext cx="73152" cy="1600200"/>
          </a:xfrm>
          <a:prstGeom prst="rect">
            <a:avLst/>
          </a:prstGeom>
          <a:solidFill>
            <a:srgbClr val="3EA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0248" y="3822191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Curiosity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0248" y="4315968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“See this confidential document.”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60" y="3657600"/>
            <a:ext cx="3063240" cy="160020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52360" y="3657600"/>
            <a:ext cx="73152" cy="1600200"/>
          </a:xfrm>
          <a:prstGeom prst="rect">
            <a:avLst/>
          </a:prstGeom>
          <a:solidFill>
            <a:srgbClr val="27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53528" y="3822191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Familiarity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3528" y="4315968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Impersonating a boss, friend or known brand.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1F32"/>
                </a:solidFill>
              </a:rPr>
              <a:t>The Phishing Attack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B"/>
                </a:solidFill>
              </a:rPr>
              <a:t>Understanding the sequence makes it easier to interrupt.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2148840" cy="228600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73152" cy="2286000"/>
          </a:xfrm>
          <a:prstGeom prst="rect">
            <a:avLst/>
          </a:prstGeom>
          <a:solidFill>
            <a:srgbClr val="27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084832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1  Impersonate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578608"/>
            <a:ext cx="1783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Fake sender, website or identity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1920240"/>
            <a:ext cx="2148840" cy="228600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39" y="1920240"/>
            <a:ext cx="73152" cy="2286000"/>
          </a:xfrm>
          <a:prstGeom prst="rect">
            <a:avLst/>
          </a:prstGeom>
          <a:solidFill>
            <a:srgbClr val="DA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2084832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2  Create pressure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578608"/>
            <a:ext cx="1783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Urgency, fear, curiosity or reward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59" y="1920240"/>
            <a:ext cx="2148840" cy="228600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59" y="1920240"/>
            <a:ext cx="73152" cy="228600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7527" y="2084832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3  Trigger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7" y="2578608"/>
            <a:ext cx="1783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Click, open, call or reply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920240"/>
            <a:ext cx="2148840" cy="228600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1920240"/>
            <a:ext cx="73152" cy="2286000"/>
          </a:xfrm>
          <a:prstGeom prst="rect">
            <a:avLst/>
          </a:prstGeom>
          <a:solidFill>
            <a:srgbClr val="30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9248" y="2084832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4  Capture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2578608"/>
            <a:ext cx="1783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Credentials, codes, money or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1920240"/>
            <a:ext cx="2148840" cy="228600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29800" y="1920240"/>
            <a:ext cx="73152" cy="2286000"/>
          </a:xfrm>
          <a:prstGeom prst="rect">
            <a:avLst/>
          </a:prstGeom>
          <a:solidFill>
            <a:srgbClr val="14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30968" y="2084832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5  Exploit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0968" y="2578608"/>
            <a:ext cx="1783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Account takeover, fraud or malware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80060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41F32"/>
                </a:solidFill>
              </a:rPr>
              <a:t>Interrupt the chain at any point: STOP → VERIFY →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1F32"/>
                </a:solidFill>
              </a:rPr>
              <a:t>Best Practices to Avoid Phishing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B"/>
                </a:solidFill>
              </a:rPr>
              <a:t>Build habits that work even when an attack looks convincing.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• Pause before clicking links, opening attachments or responding to urgent requests.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• Verify independently: use a known phone number, official app or bookmarked website.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• Use strong, unique passwords and a password manager.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• Enable multi-factor authentication (MFA). Prefer phishing-resistant methods when available.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• Never share passwords, MFA codes, recovery codes or private keys with someone who asks unexpectedly.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• Keep your operating system, browser and security software updated.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• Report suspicious messages to your organization or the service provider.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1F32"/>
                </a:solidFill>
              </a:rPr>
              <a:t>What If You Already Clicked?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B"/>
                </a:solidFill>
              </a:rPr>
              <a:t>Act quickly. A mistake does not have to become a breach.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606040" cy="347472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347472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1  Stop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75688"/>
            <a:ext cx="224028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Close the page. Do not enter more information or continue the conversation.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17320"/>
            <a:ext cx="2606040" cy="347472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417320"/>
            <a:ext cx="73152" cy="3474720"/>
          </a:xfrm>
          <a:prstGeom prst="rect">
            <a:avLst/>
          </a:prstGeom>
          <a:solidFill>
            <a:srgbClr val="DA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581912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2  Secure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075688"/>
            <a:ext cx="224028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If you entered a password, change it from the official site. Change reused passwords too.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2606040" cy="347472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73152" cy="3474720"/>
          </a:xfrm>
          <a:prstGeom prst="rect">
            <a:avLst/>
          </a:prstGeom>
          <a:solidFill>
            <a:srgbClr val="27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581912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3 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075688"/>
            <a:ext cx="224028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Tell your IT/security team or the relevant service immediately.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417320"/>
            <a:ext cx="2606040" cy="347472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6840" y="1417320"/>
            <a:ext cx="73152" cy="3474720"/>
          </a:xfrm>
          <a:prstGeom prst="rect">
            <a:avLst/>
          </a:prstGeom>
          <a:solidFill>
            <a:srgbClr val="30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8008" y="1581912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4  Monitor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2075688"/>
            <a:ext cx="224028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Watch accounts for suspicious activity. If financial information was exposed, contact your bank promptly.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141F32"/>
                </a:solidFill>
              </a:rPr>
              <a:t>Do not hide the incident. Fast reporting helps reduce damage.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1F32"/>
                </a:solidFill>
              </a:rPr>
              <a:t>Real-World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B"/>
                </a:solidFill>
              </a:rPr>
              <a:t>Attackers repeatedly use the same human weaknesses.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169164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69164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Twitter account takeover — 2020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75688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Attackers used social engineering against employees to gain internal access, then targeted high-profile accounts. Lesson: employee access and internal tools can be powerful targets.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57800" cy="169164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1691640"/>
          </a:xfrm>
          <a:prstGeom prst="rect">
            <a:avLst/>
          </a:prstGeom>
          <a:solidFill>
            <a:srgbClr val="27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58191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Business Email Compromise (BEC)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75688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Attackers impersonate executives, vendors or finance staff to request payments or sensitive information. Lesson: verify unusual financial requests through a separate channel.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66160"/>
            <a:ext cx="5257800" cy="169164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566160"/>
            <a:ext cx="73152" cy="1691640"/>
          </a:xfrm>
          <a:prstGeom prst="rect">
            <a:avLst/>
          </a:prstGeom>
          <a:solidFill>
            <a:srgbClr val="DA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73075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Fake cloud-login 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224528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Messages imitate Microsoft 365, Google or other services and send victims to look-alike login pages. Lesson: inspect the domain and navigate to the service independently.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566160"/>
            <a:ext cx="5257800" cy="169164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566160"/>
            <a:ext cx="73152" cy="1691640"/>
          </a:xfrm>
          <a:prstGeom prst="rect">
            <a:avLst/>
          </a:prstGeom>
          <a:solidFill>
            <a:srgbClr val="30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73075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Smishing &amp; QR phishing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224528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Attackers use SMS or QR codes to direct people to fraudulent pages. Lesson: the same verification rules apply outside email.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1F32"/>
                </a:solidFill>
              </a:rPr>
              <a:t>Interactive 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B"/>
                </a:solidFill>
              </a:rPr>
              <a:t>You receive: “Your account will be closed in 30 minutes. Verify now.” What should you do?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5074920" cy="114300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08760"/>
            <a:ext cx="73152" cy="114300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673351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167128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Click immediately so the account is not closed.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074920" cy="114300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73152" cy="1143000"/>
          </a:xfrm>
          <a:prstGeom prst="rect">
            <a:avLst/>
          </a:prstGeom>
          <a:solidFill>
            <a:srgbClr val="30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673351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167128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Open the official app/site separately and check for an alert.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063240"/>
            <a:ext cx="5074920" cy="114300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063240"/>
            <a:ext cx="73152" cy="114300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227832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721608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Reply with your password to prove ownership.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063240"/>
            <a:ext cx="5074920" cy="114300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063240"/>
            <a:ext cx="73152" cy="1143000"/>
          </a:xfrm>
          <a:prstGeom prst="rect">
            <a:avLst/>
          </a:prstGeom>
          <a:solidFill>
            <a:srgbClr val="DA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227832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721608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Forward it to friends to ask if it looks real.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89204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1F32"/>
                </a:solidFill>
              </a:rPr>
              <a:t>Choose A, B, C or D before moving to the answer.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1F32"/>
                </a:solidFill>
              </a:rPr>
              <a:t>Quiz 1 —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B"/>
                </a:solidFill>
              </a:rPr>
              <a:t>Correct answer: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08760"/>
            <a:ext cx="10332720" cy="182880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508760"/>
            <a:ext cx="73152" cy="1828800"/>
          </a:xfrm>
          <a:prstGeom prst="rect">
            <a:avLst/>
          </a:prstGeom>
          <a:solidFill>
            <a:srgbClr val="30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673351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Why?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167128"/>
            <a:ext cx="9966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The safest approach is to avoid the message's link and verify through a trusted route you already know. Urgency is a classic social-engineering tactic.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7947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• Do not reply with passwords or codes.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• Do not rely on links supplied by the suspicious message.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• Report the message if appropriate.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B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1F32"/>
                </a:solidFill>
              </a:rPr>
              <a:t>Interactive 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B"/>
                </a:solidFill>
              </a:rPr>
              <a:t>Which is the strongest warning sign?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074920" cy="118872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1188720"/>
          </a:xfrm>
          <a:prstGeom prst="rect">
            <a:avLst/>
          </a:prstGeom>
          <a:solidFill>
            <a:srgbClr val="27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581912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075688"/>
            <a:ext cx="4709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The email contains a company logo.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074920" cy="118872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1188720"/>
          </a:xfrm>
          <a:prstGeom prst="rect">
            <a:avLst/>
          </a:prstGeom>
          <a:solidFill>
            <a:srgbClr val="27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581912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75688"/>
            <a:ext cx="4709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The email uses your name.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71800"/>
            <a:ext cx="5074920" cy="118872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971800"/>
            <a:ext cx="73152" cy="118872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136392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630168"/>
            <a:ext cx="4709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The sender asks for an MFA code unexpectedly.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71800"/>
            <a:ext cx="5074920" cy="118872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971800"/>
            <a:ext cx="73152" cy="1188720"/>
          </a:xfrm>
          <a:prstGeom prst="rect">
            <a:avLst/>
          </a:prstGeom>
          <a:solidFill>
            <a:srgbClr val="27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136392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630168"/>
            <a:ext cx="4709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The email has a normal-looking font.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9834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41F32"/>
                </a:solidFill>
              </a:rPr>
              <a:t>Think: which option asks for something that should remain secret?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B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1F32"/>
                </a:solidFill>
              </a:rPr>
              <a:t>Quiz 2 — Answer &amp; Final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B"/>
                </a:solidFill>
              </a:rPr>
              <a:t>Correct answer: 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182880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182880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36192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Why C?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29967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An unexpected request for an MFA code can allow an attacker to complete a login. Never disclose authentication codes to an unsolicited caller or message.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182880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73152" cy="1828800"/>
          </a:xfrm>
          <a:prstGeom prst="rect">
            <a:avLst/>
          </a:prstGeom>
          <a:solidFill>
            <a:srgbClr val="27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536192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Remember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29967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A logo, your name or professional formatting can be copied. Verify the sender, destination and request.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A34"/>
                </a:solidFill>
              </a:defRPr>
            </a:pPr>
            <a:r>
              <a:t>• STOP when a message creates pressure.</a:t>
            </a:r>
          </a:p>
          <a:p>
            <a:pPr>
              <a:spcAft>
                <a:spcPts val="1000"/>
              </a:spcAft>
              <a:defRPr sz="1900">
                <a:solidFill>
                  <a:srgbClr val="232A34"/>
                </a:solidFill>
              </a:defRPr>
            </a:pPr>
            <a:r>
              <a:t>• CHECK the sender and destination.</a:t>
            </a:r>
          </a:p>
          <a:p>
            <a:pPr>
              <a:spcAft>
                <a:spcPts val="1000"/>
              </a:spcAft>
              <a:defRPr sz="1900">
                <a:solidFill>
                  <a:srgbClr val="232A34"/>
                </a:solidFill>
              </a:defRPr>
            </a:pPr>
            <a:r>
              <a:t>• VERIFY through a separate trusted channel.</a:t>
            </a:r>
          </a:p>
          <a:p>
            <a:pPr>
              <a:spcAft>
                <a:spcPts val="1000"/>
              </a:spcAft>
              <a:defRPr sz="1900">
                <a:solidFill>
                  <a:srgbClr val="232A34"/>
                </a:solidFill>
              </a:defRPr>
            </a:pPr>
            <a:r>
              <a:t>• NEVER share passwords or authentication codes.</a:t>
            </a:r>
          </a:p>
          <a:p>
            <a:pPr>
              <a:spcAft>
                <a:spcPts val="1000"/>
              </a:spcAft>
              <a:defRPr sz="1900">
                <a:solidFill>
                  <a:srgbClr val="232A34"/>
                </a:solidFill>
              </a:defRPr>
            </a:pPr>
            <a:r>
              <a:t>• REPORT suspicious activity quickly.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B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1F32"/>
                </a:solidFill>
              </a:rPr>
              <a:t>Scenario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B"/>
                </a:solidFill>
              </a:rPr>
              <a:t>You receive a message from “HR” asking you to open an attachment and sign in to view a salary document.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6400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• What should you inspect first?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• What social-engineering tactic might be involved?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• How would you verify the request?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• What would you do if the attachment was already opened?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554480"/>
            <a:ext cx="3657600" cy="114300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0" y="1554480"/>
            <a:ext cx="73152" cy="1143000"/>
          </a:xfrm>
          <a:prstGeom prst="rect">
            <a:avLst/>
          </a:prstGeom>
          <a:solidFill>
            <a:srgbClr val="27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0688" y="1719072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Hint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0688" y="22128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Sender + full address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880360"/>
            <a:ext cx="3657600" cy="114300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2880360"/>
            <a:ext cx="73152" cy="1143000"/>
          </a:xfrm>
          <a:prstGeom prst="rect">
            <a:avLst/>
          </a:prstGeom>
          <a:solidFill>
            <a:srgbClr val="DA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0688" y="3044952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Hint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35387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Unexpected attachment/login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4206240"/>
            <a:ext cx="3657600" cy="1143000"/>
          </a:xfrm>
          <a:prstGeom prst="roundRect">
            <a:avLst/>
          </a:prstGeom>
          <a:solidFill>
            <a:srgbClr val="EEF3F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4206240"/>
            <a:ext cx="73152" cy="1143000"/>
          </a:xfrm>
          <a:prstGeom prst="rect">
            <a:avLst/>
          </a:prstGeom>
          <a:solidFill>
            <a:srgbClr val="30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4370831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1F32"/>
                </a:solidFill>
              </a:rPr>
              <a:t>Hint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4864607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4"/>
                </a:solidFill>
              </a:rPr>
              <a:t>Verify with HR using a known 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B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AFBFD"/>
                </a:solidFill>
              </a:rPr>
              <a:t>STOP. THINK. VERIFY.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DD7E3"/>
                </a:solidFill>
              </a:rPr>
              <a:t>Phishing succeeds when we act before we verify.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9875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700" b="1">
                <a:solidFill>
                  <a:srgbClr val="FAFBFD"/>
                </a:solidFill>
              </a:rPr>
              <a:t>STOP — don’t rush.</a:t>
            </a:r>
          </a:p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AFBFD"/>
                </a:solidFill>
              </a:rPr>
              <a:t>THINK — what is being asked, and why?</a:t>
            </a:r>
          </a:p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AFBFD"/>
                </a:solidFill>
              </a:rPr>
              <a:t>VERIFY — use a trusted channel.</a:t>
            </a:r>
          </a:p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AFBFD"/>
                </a:solidFill>
              </a:rPr>
              <a:t>REPORT — help protect others.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89204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3EA9CF"/>
                </a:solidFill>
              </a:rPr>
              <a:t>Security is a habit, not a single click.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B"/>
                </a:solidFill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